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8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235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9" cy="255475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00385" y="1828799"/>
            <a:ext cx="990599" cy="228659"/>
          </a:xfrm>
        </p:spPr>
        <p:txBody>
          <a:bodyPr anchor="t" anchorCtr="0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236209" y="3264406"/>
            <a:ext cx="3859795" cy="228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5279" y="292609"/>
            <a:ext cx="628813" cy="767687"/>
          </a:xfrm>
        </p:spPr>
        <p:txBody>
          <a:bodyPr/>
          <a:lstStyle>
            <a:lvl1pPr>
              <a:defRPr sz="2800" b="0" i="0" baseline="0"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4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36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639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53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490"/>
            <a:ext cx="3636978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79" cy="277131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29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37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5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97437"/>
            <a:ext cx="271258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086844"/>
            <a:ext cx="2712590" cy="292541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95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362190"/>
            <a:ext cx="2987087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1591" y="3088562"/>
            <a:ext cx="3001938" cy="244863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64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13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Rectangle 13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0"/>
            <a:ext cx="6422004" cy="1653117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509006"/>
            <a:ext cx="6422003" cy="2515873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7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35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0" name="TextBox 9"/>
          <p:cNvSpPr txBox="1"/>
          <p:nvPr/>
        </p:nvSpPr>
        <p:spPr>
          <a:xfrm>
            <a:off x="644721" y="654263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7454" y="2900539"/>
            <a:ext cx="538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9" y="914401"/>
            <a:ext cx="6160385" cy="2894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87279" y="3814473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41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1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399"/>
            <a:ext cx="6422004" cy="20955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06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84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884" y="2489199"/>
            <a:ext cx="231098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8884" y="3147164"/>
            <a:ext cx="2310988" cy="287771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9201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4"/>
            <a:ext cx="232675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39" cy="288836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22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36973"/>
            <a:ext cx="6423592" cy="69999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39" y="4188546"/>
            <a:ext cx="2314064" cy="64901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8" y="4837558"/>
            <a:ext cx="2309280" cy="118732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7" y="4188546"/>
            <a:ext cx="233090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9200"/>
            <a:ext cx="2025182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7" y="4846509"/>
            <a:ext cx="2330904" cy="11783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84814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5" y="2489200"/>
            <a:ext cx="2018839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6510"/>
            <a:ext cx="2299492" cy="118902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24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1" y="2489200"/>
            <a:ext cx="6343201" cy="35306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20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8235" y="1447799"/>
            <a:ext cx="4435439" cy="45719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62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1854142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3564" y="925605"/>
            <a:ext cx="6346078" cy="711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71444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7811215" cy="2554758"/>
          </a:xfrm>
        </p:spPr>
        <p:txBody>
          <a:bodyPr/>
          <a:lstStyle/>
          <a:p>
            <a:r>
              <a:rPr sz="2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/>
              </a:rPr>
              <a:t>Milestone 1: Data Preprocessing &amp; </a:t>
            </a:r>
            <a:r>
              <a:rPr sz="2000" b="1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Calibri"/>
              </a:rPr>
              <a:t>EDA</a:t>
            </a:r>
            <a:r>
              <a:rPr lang="en-US" sz="2000" b="1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Calibri"/>
              </a:rPr>
              <a:t/>
            </a:r>
            <a:br>
              <a:rPr lang="en-US" sz="2000" b="1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Calibri"/>
              </a:rPr>
            </a:b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Milestone </a:t>
            </a:r>
            <a:r>
              <a:rPr lang="en-IN" sz="20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2: Evaluation</a:t>
            </a:r>
            <a:br>
              <a:rPr lang="en-IN" sz="20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en-IN" sz="20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Milestone 3:</a:t>
            </a: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Production Integration and Web Application</a:t>
            </a:r>
            <a:endParaRPr sz="2000" b="1" dirty="0">
              <a:solidFill>
                <a:schemeClr val="tx2">
                  <a:lumMod val="20000"/>
                  <a:lumOff val="80000"/>
                </a:schemeClr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Fake Job Posting Detection using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9592" y="5321808"/>
            <a:ext cx="2414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Mentor Name:</a:t>
            </a:r>
          </a:p>
          <a:p>
            <a:r>
              <a:rPr lang="en-US" dirty="0" smtClean="0"/>
              <a:t>Mr. Praveen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400" dirty="0">
                <a:latin typeface="Calibri"/>
              </a:rPr>
              <a:t>Objective:</a:t>
            </a:r>
          </a:p>
          <a:p>
            <a:r>
              <a:rPr sz="2400" dirty="0">
                <a:latin typeface="Calibri"/>
              </a:rPr>
              <a:t>• Detect fraudulent job postings using NLP.</a:t>
            </a:r>
          </a:p>
          <a:p>
            <a:endParaRPr sz="2400" dirty="0">
              <a:latin typeface="Calibri"/>
            </a:endParaRPr>
          </a:p>
          <a:p>
            <a:r>
              <a:rPr sz="2400" dirty="0">
                <a:latin typeface="Calibri"/>
              </a:rPr>
              <a:t>Dataset:</a:t>
            </a:r>
          </a:p>
          <a:p>
            <a:r>
              <a:rPr sz="2400" dirty="0">
                <a:latin typeface="Calibri"/>
              </a:rPr>
              <a:t>• Source: </a:t>
            </a:r>
            <a:r>
              <a:rPr sz="2400" dirty="0" err="1">
                <a:latin typeface="Calibri"/>
              </a:rPr>
              <a:t>Kaggle</a:t>
            </a:r>
            <a:endParaRPr sz="2400" dirty="0">
              <a:latin typeface="Calibri"/>
            </a:endParaRPr>
          </a:p>
          <a:p>
            <a:r>
              <a:rPr sz="2400" dirty="0">
                <a:latin typeface="Calibri"/>
              </a:rPr>
              <a:t>• File: fake_job_postings.csv</a:t>
            </a:r>
          </a:p>
          <a:p>
            <a:r>
              <a:rPr sz="2400" dirty="0">
                <a:latin typeface="Calibri"/>
              </a:rPr>
              <a:t>• Rows: 17,880 | Columns: 18</a:t>
            </a:r>
          </a:p>
          <a:p>
            <a:r>
              <a:rPr sz="2400" dirty="0">
                <a:latin typeface="Calibri"/>
              </a:rPr>
              <a:t>• Target: 'fraudulent'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Performed Cleaning:</a:t>
            </a:r>
          </a:p>
          <a:p>
            <a:r>
              <a:rPr sz="2400">
                <a:latin typeface="Calibri"/>
              </a:rPr>
              <a:t>• Removed HTML tags</a:t>
            </a:r>
          </a:p>
          <a:p>
            <a:r>
              <a:rPr sz="2400">
                <a:latin typeface="Calibri"/>
              </a:rPr>
              <a:t>• Removed URLs &amp; special characters</a:t>
            </a:r>
          </a:p>
          <a:p>
            <a:r>
              <a:rPr sz="2400">
                <a:latin typeface="Calibri"/>
              </a:rPr>
              <a:t>• Lowercasing &amp; whitespace cleanup</a:t>
            </a:r>
          </a:p>
          <a:p>
            <a:r>
              <a:rPr sz="2400">
                <a:latin typeface="Calibri"/>
              </a:rPr>
              <a:t>• Missing values handled</a:t>
            </a:r>
          </a:p>
          <a:p>
            <a:r>
              <a:rPr sz="2400">
                <a:latin typeface="Calibri"/>
              </a:rPr>
              <a:t>• Merged text fields into single column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Text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Steps Used:</a:t>
            </a:r>
          </a:p>
          <a:p>
            <a:r>
              <a:rPr sz="2400">
                <a:latin typeface="Calibri"/>
              </a:rPr>
              <a:t>• Tokenization</a:t>
            </a:r>
          </a:p>
          <a:p>
            <a:r>
              <a:rPr sz="2400">
                <a:latin typeface="Calibri"/>
              </a:rPr>
              <a:t>• Stopword Removal</a:t>
            </a:r>
          </a:p>
          <a:p>
            <a:r>
              <a:rPr sz="2400">
                <a:latin typeface="Calibri"/>
              </a:rPr>
              <a:t>• Lemmatization</a:t>
            </a:r>
          </a:p>
          <a:p>
            <a:r>
              <a:rPr sz="2400">
                <a:latin typeface="Calibri"/>
              </a:rPr>
              <a:t>• Custom text preprocessing pipeline created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Exploratory Data Analysis (Statistical)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Findings:</a:t>
            </a:r>
          </a:p>
          <a:p>
            <a:r>
              <a:rPr sz="2400">
                <a:latin typeface="Calibri"/>
              </a:rPr>
              <a:t>• Salary range &amp; benefits have highest missing values.</a:t>
            </a:r>
          </a:p>
          <a:p>
            <a:r>
              <a:rPr sz="2400">
                <a:latin typeface="Calibri"/>
              </a:rPr>
              <a:t>• Fake job postings ≈ 5%.</a:t>
            </a:r>
          </a:p>
          <a:p>
            <a:r>
              <a:rPr sz="2400">
                <a:latin typeface="Calibri"/>
              </a:rPr>
              <a:t>• Many categorical fields sparse.</a:t>
            </a:r>
          </a:p>
          <a:p>
            <a:r>
              <a:rPr sz="2400">
                <a:latin typeface="Calibri"/>
              </a:rPr>
              <a:t>• Strong need for class imbalance handling.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EDA Visual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Key Observations:</a:t>
            </a:r>
          </a:p>
          <a:p>
            <a:r>
              <a:rPr sz="2400">
                <a:latin typeface="Calibri"/>
              </a:rPr>
              <a:t>• Real job posts use technical wording.</a:t>
            </a:r>
          </a:p>
          <a:p>
            <a:r>
              <a:rPr sz="2400">
                <a:latin typeface="Calibri"/>
              </a:rPr>
              <a:t>• Fake posts contain vague/promotional terms.</a:t>
            </a:r>
          </a:p>
          <a:p>
            <a:r>
              <a:rPr sz="2400">
                <a:latin typeface="Calibri"/>
              </a:rPr>
              <a:t>• Location distribution heavily US/UK centric.</a:t>
            </a:r>
          </a:p>
          <a:p>
            <a:r>
              <a:rPr sz="2400">
                <a:latin typeface="Calibri"/>
              </a:rPr>
              <a:t>• Word clouds clearly differentiate fraud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Class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2400">
                <a:latin typeface="Calibri"/>
              </a:rPr>
              <a:t>Distribution:</a:t>
            </a:r>
          </a:p>
          <a:p>
            <a:r>
              <a:rPr sz="2400">
                <a:latin typeface="Calibri"/>
              </a:rPr>
              <a:t>• Real: ~95%</a:t>
            </a:r>
          </a:p>
          <a:p>
            <a:r>
              <a:rPr sz="2400">
                <a:latin typeface="Calibri"/>
              </a:rPr>
              <a:t>• Fake: ~5%</a:t>
            </a:r>
          </a:p>
          <a:p>
            <a:r>
              <a:rPr sz="2400">
                <a:latin typeface="Calibri"/>
              </a:rPr>
              <a:t>Challenge:</a:t>
            </a:r>
          </a:p>
          <a:p>
            <a:r>
              <a:rPr sz="2400">
                <a:latin typeface="Calibri"/>
              </a:rPr>
              <a:t>• Models may become biased.</a:t>
            </a:r>
          </a:p>
          <a:p>
            <a:r>
              <a:rPr sz="2400">
                <a:latin typeface="Calibri"/>
              </a:rPr>
              <a:t>To be fixed in Milestone 2:</a:t>
            </a:r>
          </a:p>
          <a:p>
            <a:r>
              <a:rPr sz="2400">
                <a:latin typeface="Calibri"/>
              </a:rPr>
              <a:t>• SMOTE</a:t>
            </a:r>
          </a:p>
          <a:p>
            <a:r>
              <a:rPr sz="2400">
                <a:latin typeface="Calibri"/>
              </a:rPr>
              <a:t>• Oversampling</a:t>
            </a:r>
          </a:p>
          <a:p>
            <a:r>
              <a:rPr sz="2400">
                <a:latin typeface="Calibri"/>
              </a:rPr>
              <a:t>• Class-weighting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TF-IDF Feature Extraction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sz="2400">
                <a:latin typeface="Calibri"/>
              </a:rPr>
              <a:t>What TF-IDF Does:</a:t>
            </a:r>
          </a:p>
          <a:p>
            <a:r>
              <a:rPr sz="2400">
                <a:latin typeface="Calibri"/>
              </a:rPr>
              <a:t>• Converts text into numerical weighted features.</a:t>
            </a:r>
          </a:p>
          <a:p>
            <a:r>
              <a:rPr sz="2400">
                <a:latin typeface="Calibri"/>
              </a:rPr>
              <a:t>• Measures importance of words based on frequency.</a:t>
            </a:r>
          </a:p>
          <a:p>
            <a:endParaRPr sz="2400">
              <a:latin typeface="Calibri"/>
            </a:endParaRPr>
          </a:p>
          <a:p>
            <a:r>
              <a:rPr sz="2400">
                <a:latin typeface="Calibri"/>
              </a:rPr>
              <a:t>How We Applied It:</a:t>
            </a:r>
          </a:p>
          <a:p>
            <a:r>
              <a:rPr sz="2400">
                <a:latin typeface="Calibri"/>
              </a:rPr>
              <a:t>• Used sklearn TfidfVectorizer</a:t>
            </a:r>
          </a:p>
          <a:p>
            <a:r>
              <a:rPr sz="2400">
                <a:latin typeface="Calibri"/>
              </a:rPr>
              <a:t>• max_features = 5000 for efficiency</a:t>
            </a:r>
          </a:p>
          <a:p>
            <a:r>
              <a:rPr sz="2400">
                <a:latin typeface="Calibri"/>
              </a:rPr>
              <a:t>• ngram_range = (1,2) to capture bigrams</a:t>
            </a:r>
          </a:p>
          <a:p>
            <a:r>
              <a:rPr sz="2400">
                <a:latin typeface="Calibri"/>
              </a:rPr>
              <a:t>• min_df = 5 to ignore rare noise words</a:t>
            </a:r>
          </a:p>
          <a:p>
            <a:r>
              <a:rPr sz="2400">
                <a:latin typeface="Calibri"/>
              </a:rPr>
              <a:t>• stop_words='english'</a:t>
            </a:r>
          </a:p>
          <a:p>
            <a:endParaRPr sz="2400">
              <a:latin typeface="Calibri"/>
            </a:endParaRPr>
          </a:p>
          <a:p>
            <a:r>
              <a:rPr sz="2400">
                <a:latin typeface="Calibri"/>
              </a:rPr>
              <a:t>Outputs:</a:t>
            </a:r>
          </a:p>
          <a:p>
            <a:r>
              <a:rPr sz="2400">
                <a:latin typeface="Calibri"/>
              </a:rPr>
              <a:t>• Sparse matrix of shape (17880, 5000)</a:t>
            </a:r>
          </a:p>
          <a:p>
            <a:r>
              <a:rPr sz="2400">
                <a:latin typeface="Calibri"/>
              </a:rPr>
              <a:t>• Ready for ML models in Milestone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Alternative Embeddings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Other embedding methods explored:</a:t>
            </a:r>
          </a:p>
          <a:p>
            <a:r>
              <a:rPr sz="2400">
                <a:latin typeface="Calibri"/>
              </a:rPr>
              <a:t>• Word2Vec</a:t>
            </a:r>
          </a:p>
          <a:p>
            <a:r>
              <a:rPr sz="2400">
                <a:latin typeface="Calibri"/>
              </a:rPr>
              <a:t>• GloVe</a:t>
            </a:r>
          </a:p>
          <a:p>
            <a:r>
              <a:rPr sz="2400">
                <a:latin typeface="Calibri"/>
              </a:rPr>
              <a:t>• BERT embeddings</a:t>
            </a:r>
          </a:p>
          <a:p>
            <a:r>
              <a:rPr sz="2400">
                <a:latin typeface="Calibri"/>
              </a:rPr>
              <a:t>These can improve contextual understanding but require more computation.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Milestone 1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>
                <a:latin typeface="Calibri"/>
              </a:rPr>
              <a:t>Deliverables Completed:</a:t>
            </a:r>
          </a:p>
          <a:p>
            <a:r>
              <a:rPr sz="2400">
                <a:latin typeface="Calibri"/>
              </a:rPr>
              <a:t>✔ Cleaned dataset</a:t>
            </a:r>
          </a:p>
          <a:p>
            <a:r>
              <a:rPr sz="2400">
                <a:latin typeface="Calibri"/>
              </a:rPr>
              <a:t>✔ Normalized text</a:t>
            </a:r>
          </a:p>
          <a:p>
            <a:r>
              <a:rPr sz="2400">
                <a:latin typeface="Calibri"/>
              </a:rPr>
              <a:t>✔ EDA visuals</a:t>
            </a:r>
          </a:p>
          <a:p>
            <a:r>
              <a:rPr sz="2400">
                <a:latin typeface="Calibri"/>
              </a:rPr>
              <a:t>✔ TF-IDF vector matrix</a:t>
            </a:r>
          </a:p>
          <a:p>
            <a:r>
              <a:rPr sz="2400">
                <a:latin typeface="Calibri"/>
              </a:rPr>
              <a:t>✔ Preprocessing pipeline</a:t>
            </a:r>
          </a:p>
          <a:p>
            <a:r>
              <a:rPr sz="2400">
                <a:latin typeface="Calibri"/>
              </a:rPr>
              <a:t>✔ Notebook ready for submission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Milestone 1 Completed Successfully:</a:t>
            </a:r>
          </a:p>
          <a:p>
            <a:r>
              <a:rPr sz="2400">
                <a:latin typeface="Calibri"/>
              </a:rPr>
              <a:t>• Dataset cleaned &amp; prepared</a:t>
            </a:r>
          </a:p>
          <a:p>
            <a:r>
              <a:rPr sz="2400">
                <a:latin typeface="Calibri"/>
              </a:rPr>
              <a:t>• Full exploratory study conducted</a:t>
            </a:r>
          </a:p>
          <a:p>
            <a:r>
              <a:rPr sz="2400">
                <a:latin typeface="Calibri"/>
              </a:rPr>
              <a:t>• TF-IDF feature extraction implemented</a:t>
            </a:r>
          </a:p>
          <a:p>
            <a:endParaRPr sz="2400">
              <a:latin typeface="Calibri"/>
            </a:endParaRPr>
          </a:p>
          <a:p>
            <a:r>
              <a:rPr sz="2400">
                <a:latin typeface="Calibri"/>
              </a:rPr>
              <a:t>Next Step → Milestone 2: Model Training &amp;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Milestone 2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Milestone </a:t>
            </a:r>
            <a:r>
              <a:rPr lang="en-US" b="1" dirty="0"/>
              <a:t>2 (Weeks 3–4): Model Training &amp; Evaluation</a:t>
            </a:r>
            <a:endParaRPr lang="en-US" dirty="0"/>
          </a:p>
          <a:p>
            <a:r>
              <a:rPr lang="en-US" dirty="0"/>
              <a:t>Baseline ML models implemented</a:t>
            </a:r>
          </a:p>
          <a:p>
            <a:r>
              <a:rPr lang="en-US" dirty="0"/>
              <a:t>Deep learning architecture developed</a:t>
            </a:r>
          </a:p>
          <a:p>
            <a:r>
              <a:rPr lang="en-US" dirty="0"/>
              <a:t>Models compared and evaluated</a:t>
            </a:r>
          </a:p>
          <a:p>
            <a:r>
              <a:rPr lang="en-US" dirty="0"/>
              <a:t>Best model selected &amp; saved</a:t>
            </a:r>
          </a:p>
          <a:p>
            <a:r>
              <a:rPr lang="en-US" dirty="0"/>
              <a:t>Complete performance analysis documented</a:t>
            </a:r>
          </a:p>
        </p:txBody>
      </p:sp>
    </p:spTree>
    <p:extLst>
      <p:ext uri="{BB962C8B-B14F-4D97-AF65-F5344CB8AC3E}">
        <p14:creationId xmlns:p14="http://schemas.microsoft.com/office/powerpoint/2010/main" val="1997731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Baseline Models Implemented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441" y="3238838"/>
            <a:ext cx="467198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on TF-IDF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tuned (C, penalty, solver)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training time recorded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Saved as </a:t>
            </a:r>
            <a:r>
              <a:rPr lang="en-US" sz="1000" dirty="0" smtClean="0">
                <a:solidFill>
                  <a:schemeClr val="tx1"/>
                </a:solidFill>
                <a:latin typeface="Arial Unicode MS" panose="020B0604020202020204" pitchFamily="34" charset="-128"/>
              </a:rPr>
              <a:t>.</a:t>
            </a:r>
            <a:r>
              <a:rPr lang="en-US" sz="1000" dirty="0" err="1" smtClean="0">
                <a:solidFill>
                  <a:schemeClr val="tx1"/>
                </a:solidFill>
                <a:latin typeface="Arial Unicode MS" panose="020B0604020202020204" pitchFamily="34" charset="-128"/>
              </a:rPr>
              <a:t>pkl</a:t>
            </a:r>
            <a:endParaRPr lang="en-US" sz="1000" dirty="0" smtClean="0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760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Baseline Models Implemented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with optimized 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n_estimators</a:t>
            </a:r>
            <a:r>
              <a:rPr kumimoji="0" lang="en-US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&amp; 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max_depth</a:t>
            </a:r>
            <a:endParaRPr kumimoji="0" lang="en-US" sz="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importance extracted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Saved for final 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025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of Baseline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Metrics Calculated for Both Models</a:t>
            </a:r>
            <a:endParaRPr lang="en-IN" dirty="0"/>
          </a:p>
          <a:p>
            <a:r>
              <a:rPr lang="en-IN" dirty="0"/>
              <a:t>Accuracy score</a:t>
            </a:r>
          </a:p>
          <a:p>
            <a:r>
              <a:rPr lang="en-IN" dirty="0"/>
              <a:t>Precision, Recall, F1-score</a:t>
            </a:r>
          </a:p>
          <a:p>
            <a:r>
              <a:rPr lang="en-IN" dirty="0"/>
              <a:t>Confusion matrix</a:t>
            </a:r>
          </a:p>
          <a:p>
            <a:r>
              <a:rPr lang="en-IN" dirty="0"/>
              <a:t>ROC Curve + AUC</a:t>
            </a:r>
          </a:p>
          <a:p>
            <a:r>
              <a:rPr lang="en-IN" dirty="0"/>
              <a:t>Classification report summarized</a:t>
            </a:r>
          </a:p>
          <a:p>
            <a:r>
              <a:rPr lang="en-IN" b="1" dirty="0"/>
              <a:t>Observation: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Models provide strong baseline performance for next stage.</a:t>
            </a:r>
          </a:p>
        </p:txBody>
      </p:sp>
    </p:spTree>
    <p:extLst>
      <p:ext uri="{BB962C8B-B14F-4D97-AF65-F5344CB8AC3E}">
        <p14:creationId xmlns:p14="http://schemas.microsoft.com/office/powerpoint/2010/main" val="3555896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564" y="925605"/>
            <a:ext cx="7302028" cy="711359"/>
          </a:xfrm>
        </p:spPr>
        <p:txBody>
          <a:bodyPr/>
          <a:lstStyle/>
          <a:p>
            <a:r>
              <a:rPr lang="en-IN" dirty="0"/>
              <a:t>Deep Learning Model: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Chosen Architecture: </a:t>
            </a:r>
            <a:r>
              <a:rPr lang="en-IN" b="1" dirty="0" err="1"/>
              <a:t>BiLSTM</a:t>
            </a:r>
            <a:endParaRPr lang="en-IN" dirty="0"/>
          </a:p>
          <a:p>
            <a:r>
              <a:rPr lang="en-IN" dirty="0"/>
              <a:t>Input sequences pre-padded</a:t>
            </a:r>
          </a:p>
          <a:p>
            <a:r>
              <a:rPr lang="en-IN" dirty="0"/>
              <a:t>Embedding layer (</a:t>
            </a:r>
            <a:r>
              <a:rPr lang="en-IN" dirty="0" err="1"/>
              <a:t>Keras</a:t>
            </a:r>
            <a:r>
              <a:rPr lang="en-IN" dirty="0"/>
              <a:t> / </a:t>
            </a:r>
            <a:r>
              <a:rPr lang="en-IN" dirty="0" err="1"/>
              <a:t>GloVe</a:t>
            </a:r>
            <a:r>
              <a:rPr lang="en-IN" dirty="0"/>
              <a:t> </a:t>
            </a:r>
            <a:r>
              <a:rPr lang="en-IN" dirty="0" err="1"/>
              <a:t>embeddings</a:t>
            </a:r>
            <a:r>
              <a:rPr lang="en-IN" dirty="0"/>
              <a:t>)</a:t>
            </a:r>
          </a:p>
          <a:p>
            <a:r>
              <a:rPr lang="en-IN" dirty="0" err="1"/>
              <a:t>BiLSTM</a:t>
            </a:r>
            <a:r>
              <a:rPr lang="en-IN" dirty="0"/>
              <a:t> layer for contextual understanding</a:t>
            </a:r>
          </a:p>
          <a:p>
            <a:r>
              <a:rPr lang="en-IN" dirty="0"/>
              <a:t>Dense + Dropout layers for regularization</a:t>
            </a:r>
          </a:p>
          <a:p>
            <a:r>
              <a:rPr lang="en-IN" dirty="0"/>
              <a:t>Sigmoid output for binary classification</a:t>
            </a:r>
          </a:p>
          <a:p>
            <a:r>
              <a:rPr lang="en-IN" b="1" dirty="0"/>
              <a:t>Why </a:t>
            </a:r>
            <a:r>
              <a:rPr lang="en-IN" b="1" dirty="0" err="1"/>
              <a:t>BiLSTM</a:t>
            </a:r>
            <a:r>
              <a:rPr lang="en-IN" b="1" dirty="0"/>
              <a:t>:</a:t>
            </a:r>
            <a:endParaRPr lang="en-IN" dirty="0"/>
          </a:p>
          <a:p>
            <a:r>
              <a:rPr lang="en-IN" dirty="0"/>
              <a:t>Captures long-range patterns</a:t>
            </a:r>
          </a:p>
          <a:p>
            <a:r>
              <a:rPr lang="en-IN" dirty="0"/>
              <a:t>Performs better on textual data</a:t>
            </a:r>
          </a:p>
          <a:p>
            <a:r>
              <a:rPr lang="en-IN" dirty="0"/>
              <a:t>Balanced complexity </a:t>
            </a:r>
            <a:r>
              <a:rPr lang="en-IN" dirty="0" err="1"/>
              <a:t>vs</a:t>
            </a:r>
            <a:r>
              <a:rPr lang="en-IN" dirty="0"/>
              <a:t> performance</a:t>
            </a:r>
          </a:p>
        </p:txBody>
      </p:sp>
    </p:spTree>
    <p:extLst>
      <p:ext uri="{BB962C8B-B14F-4D97-AF65-F5344CB8AC3E}">
        <p14:creationId xmlns:p14="http://schemas.microsoft.com/office/powerpoint/2010/main" val="3505608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564" y="925605"/>
            <a:ext cx="6991132" cy="711359"/>
          </a:xfrm>
        </p:spPr>
        <p:txBody>
          <a:bodyPr/>
          <a:lstStyle/>
          <a:p>
            <a:r>
              <a:rPr lang="en-IN" dirty="0"/>
              <a:t>Deep Learning: Training Process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441" y="2915672"/>
            <a:ext cx="743293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Compiled using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binary_crossentropy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Optimizer: Adam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Train/validation split maintained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Epochs &amp; batch size optimized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stopping applied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logs saved (loss &amp; accuracy curves)</a:t>
            </a:r>
          </a:p>
        </p:txBody>
      </p:sp>
    </p:spTree>
    <p:extLst>
      <p:ext uri="{BB962C8B-B14F-4D97-AF65-F5344CB8AC3E}">
        <p14:creationId xmlns:p14="http://schemas.microsoft.com/office/powerpoint/2010/main" val="660978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Deep Learning: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Performance Achieved</a:t>
            </a:r>
            <a:endParaRPr lang="en-US" dirty="0"/>
          </a:p>
          <a:p>
            <a:r>
              <a:rPr lang="en-US" dirty="0"/>
              <a:t>Accuracy &gt; </a:t>
            </a:r>
            <a:r>
              <a:rPr lang="en-US" b="1" dirty="0"/>
              <a:t>90%</a:t>
            </a:r>
            <a:endParaRPr lang="en-US" dirty="0"/>
          </a:p>
          <a:p>
            <a:r>
              <a:rPr lang="en-US" dirty="0"/>
              <a:t>High and balanced F1-score</a:t>
            </a:r>
          </a:p>
          <a:p>
            <a:r>
              <a:rPr lang="en-US" dirty="0"/>
              <a:t>No major </a:t>
            </a:r>
            <a:r>
              <a:rPr lang="en-US" dirty="0" err="1"/>
              <a:t>overfitting</a:t>
            </a:r>
            <a:r>
              <a:rPr lang="en-US" dirty="0"/>
              <a:t> observed</a:t>
            </a:r>
          </a:p>
          <a:p>
            <a:r>
              <a:rPr lang="en-US" dirty="0"/>
              <a:t>Clear convergence in training curves</a:t>
            </a:r>
          </a:p>
          <a:p>
            <a:r>
              <a:rPr lang="en-US" b="1" dirty="0"/>
              <a:t>Conclusion: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Deep learning outperformed baseline models.</a:t>
            </a:r>
          </a:p>
        </p:txBody>
      </p:sp>
    </p:spTree>
    <p:extLst>
      <p:ext uri="{BB962C8B-B14F-4D97-AF65-F5344CB8AC3E}">
        <p14:creationId xmlns:p14="http://schemas.microsoft.com/office/powerpoint/2010/main" val="2090968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Comparison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5467461"/>
              </p:ext>
            </p:extLst>
          </p:nvPr>
        </p:nvGraphicFramePr>
        <p:xfrm>
          <a:off x="565023" y="2334260"/>
          <a:ext cx="8130920" cy="201168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626184"/>
                <a:gridCol w="1626184"/>
                <a:gridCol w="1626184"/>
                <a:gridCol w="1626184"/>
                <a:gridCol w="1626184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Very 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Very 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BiLSTM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5023" y="464849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Selected Best Model:</a:t>
            </a:r>
            <a:r>
              <a:rPr lang="en-US" dirty="0"/>
              <a:t> </a:t>
            </a:r>
            <a:r>
              <a:rPr lang="en-US" b="1" dirty="0" err="1"/>
              <a:t>BiLSTM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Highest accuracy and F1-score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stable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Best for real-world deployment</a:t>
            </a:r>
          </a:p>
        </p:txBody>
      </p:sp>
    </p:spTree>
    <p:extLst>
      <p:ext uri="{BB962C8B-B14F-4D97-AF65-F5344CB8AC3E}">
        <p14:creationId xmlns:p14="http://schemas.microsoft.com/office/powerpoint/2010/main" val="2145415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Saving &amp; Versioning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441" y="2526052"/>
            <a:ext cx="644875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model saved as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model_v1.0.h5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Metadata stored (accuracy,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embedding info)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 &amp; inference pipeline validated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control maintained for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186162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Cross-Validation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K-Fold Cross-Validation (k = 5/10) performed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variance across folds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model performance observed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Confirms robustness of selected model</a:t>
            </a:r>
          </a:p>
        </p:txBody>
      </p:sp>
    </p:spTree>
    <p:extLst>
      <p:ext uri="{BB962C8B-B14F-4D97-AF65-F5344CB8AC3E}">
        <p14:creationId xmlns:p14="http://schemas.microsoft.com/office/powerpoint/2010/main" val="2273292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Milestone 2 Summary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441" y="2731006"/>
            <a:ext cx="802796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 models built &amp; evaluated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model developed (</a:t>
            </a:r>
            <a:r>
              <a:rPr kumimoji="0" 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&gt;90%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comparison and selection done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model saved with versioning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Ready for Milestone 3 (Deployment &amp; API)</a:t>
            </a:r>
          </a:p>
        </p:txBody>
      </p:sp>
    </p:spTree>
    <p:extLst>
      <p:ext uri="{BB962C8B-B14F-4D97-AF65-F5344CB8AC3E}">
        <p14:creationId xmlns:p14="http://schemas.microsoft.com/office/powerpoint/2010/main" val="263403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564" y="925605"/>
            <a:ext cx="7123149" cy="711359"/>
          </a:xfrm>
        </p:spPr>
        <p:txBody>
          <a:bodyPr/>
          <a:lstStyle/>
          <a:p>
            <a:r>
              <a:rPr lang="en-US" dirty="0"/>
              <a:t>Milestone 3: Operationalizing the Model – Web Application Integration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441" y="3285004"/>
            <a:ext cx="786465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API Development (M3):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 robust, secure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inference API using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Interface (M3):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 an intuitive, responsive UI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interaction and clear result display.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&amp; Logging (M3):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a continuous feedback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mechanism and secure data logging for future model maintenance.</a:t>
            </a:r>
          </a:p>
        </p:txBody>
      </p:sp>
    </p:spTree>
    <p:extLst>
      <p:ext uri="{BB962C8B-B14F-4D97-AF65-F5344CB8AC3E}">
        <p14:creationId xmlns:p14="http://schemas.microsoft.com/office/powerpoint/2010/main" val="1068795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Architecture: The End-to-End System Flow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2333959" cy="3530600"/>
          </a:xfrm>
        </p:spPr>
        <p:txBody>
          <a:bodyPr/>
          <a:lstStyle/>
          <a:p>
            <a:r>
              <a:rPr lang="en-US" dirty="0" smtClean="0"/>
              <a:t>Seamlessly </a:t>
            </a:r>
            <a:r>
              <a:rPr lang="en-US" dirty="0"/>
              <a:t>connecting the high-performance ML model selected in Milestone 2 with a scalable web framework (</a:t>
            </a:r>
            <a:r>
              <a:rPr lang="en-US" dirty="0" err="1"/>
              <a:t>FastAPI</a:t>
            </a:r>
            <a:r>
              <a:rPr lang="en-US" dirty="0" smtClean="0"/>
              <a:t>).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600" y="2489200"/>
            <a:ext cx="4486901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21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 Backend: Leveraging </a:t>
            </a:r>
            <a:r>
              <a:rPr lang="en-US" dirty="0" err="1"/>
              <a:t>FastAPI</a:t>
            </a:r>
            <a:r>
              <a:rPr lang="en-US" dirty="0"/>
              <a:t> for High Performance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Selected </a:t>
            </a:r>
            <a:r>
              <a:rPr 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its asynchronous capabilities (high concurrency) and automatic Swagger/</a:t>
            </a:r>
            <a:r>
              <a:rPr 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OpenAPI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documentation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Core Logic (</a:t>
            </a:r>
            <a:r>
              <a:rPr lang="en-US" sz="2000" b="1" dirty="0">
                <a:solidFill>
                  <a:schemeClr val="tx1"/>
                </a:solidFill>
                <a:latin typeface="Arial Unicode MS" panose="020B0604020202020204" pitchFamily="34" charset="-128"/>
              </a:rPr>
              <a:t>main.py</a:t>
            </a:r>
            <a:r>
              <a:rPr lang="en-US" sz="2000" b="1" dirty="0">
                <a:solidFill>
                  <a:schemeClr val="tx1"/>
                </a:solidFill>
              </a:rPr>
              <a:t>):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Model Initialization: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Models are loaded globally outside of any route, ensuring they are loaded only once on server startup, maximizing response speed.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Dependency Injection (DI):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Utilized for managing security and user roles (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</a:rPr>
              <a:t>Depends(</a:t>
            </a:r>
            <a:r>
              <a:rPr lang="en-US" sz="2000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get_current_user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</a:rPr>
              <a:t>)</a:t>
            </a:r>
            <a:r>
              <a:rPr lang="en-US" sz="2000" dirty="0">
                <a:solidFill>
                  <a:schemeClr val="tx1"/>
                </a:solidFill>
              </a:rPr>
              <a:t>), making the code modular and testable.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CORS Management: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Configured </a:t>
            </a:r>
            <a:r>
              <a:rPr lang="en-US" sz="2000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CORSMiddleware</a:t>
            </a:r>
            <a:r>
              <a:rPr lang="en-US" sz="2000" dirty="0">
                <a:solidFill>
                  <a:schemeClr val="tx1"/>
                </a:solidFill>
              </a:rPr>
              <a:t> to allow cross-origin requests, enabling the local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</a:rPr>
              <a:t>index.html</a:t>
            </a:r>
            <a:r>
              <a:rPr lang="en-US" sz="2000" dirty="0">
                <a:solidFill>
                  <a:schemeClr val="tx1"/>
                </a:solidFill>
              </a:rPr>
              <a:t> to communicate with the </a:t>
            </a:r>
            <a:r>
              <a:rPr lang="en-US" sz="2000" dirty="0" err="1">
                <a:solidFill>
                  <a:schemeClr val="tx1"/>
                </a:solidFill>
              </a:rPr>
              <a:t>FastAPI</a:t>
            </a:r>
            <a:r>
              <a:rPr lang="en-US" sz="2000" dirty="0">
                <a:solidFill>
                  <a:schemeClr val="tx1"/>
                </a:solidFill>
              </a:rPr>
              <a:t> server.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7919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Inference Endpoint and Data Logging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19553" y="2311606"/>
            <a:ext cx="7893511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Endpoint: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/predict (POST)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Input Handling: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Accepts JSON body adhering to the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JobInput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Pydantic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model (description: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Input Validation: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Raises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HTTPException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(400) if the input text is too short ($&lt;10$ characters).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Prediction Logic: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Input text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vectorized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vectorizer.transform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([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data.description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]).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Prediction made: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model.predict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vec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)[0].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Confidence derived: max(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model.predict_proba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vec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)[0]).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Logging Activity: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Every request is logged to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prediction_logs.csv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with timestamp,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description_length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prediction, and confidence—providing raw data for dashboard statistics.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855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Intuitive Frontend: Design and Dynamic Results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441" y="2207786"/>
            <a:ext cx="806419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Focus: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Clean, single-page application with immediate, color-coded feedback.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Styling: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 'Fake'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result-box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class changes to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Fake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(Red/Pink gradient) with icon ⚠️.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 'Real'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result-box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class changes to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Real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(Green gradient) with icon ✅.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Handling: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Asynchronous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predict()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function manages UI state transitions (input → loading spinner → result display).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fetch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API to communicate with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http://127.0.0.1:8000/predict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Display: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Confidence Score is clearly displayed alongside the classification result.</a:t>
            </a:r>
          </a:p>
        </p:txBody>
      </p:sp>
    </p:spTree>
    <p:extLst>
      <p:ext uri="{BB962C8B-B14F-4D97-AF65-F5344CB8AC3E}">
        <p14:creationId xmlns:p14="http://schemas.microsoft.com/office/powerpoint/2010/main" val="640205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Feedback Mechanism and Data Collection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441" y="2361675"/>
            <a:ext cx="780511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Establish a critical data collection point to mitigate model drift and improve future retraining batches.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Mechanism: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"🚩 Report Incorrect Prediction" button triggers a form with a dropdown for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reason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text input for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comments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Endpoint: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/feedback (POST)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accepts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FeedbackInput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model data.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Persistence: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is appended to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flagged_jobs.csv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Data Fields: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timestamp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reason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predicted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(what the model predicted),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snippet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(first 50 chars of description), and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comments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This data is the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human-labeled ground truth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needed for the next model iteration.</a:t>
            </a:r>
          </a:p>
        </p:txBody>
      </p:sp>
    </p:spTree>
    <p:extLst>
      <p:ext uri="{BB962C8B-B14F-4D97-AF65-F5344CB8AC3E}">
        <p14:creationId xmlns:p14="http://schemas.microsoft.com/office/powerpoint/2010/main" val="3778341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System Monitoring and Analytics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441" y="2053897"/>
            <a:ext cx="704311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authenticated administrators with key insights and system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Utilizes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FastAPI's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OAuth2PasswordBearer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scheme and JWT for token creation and verification 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get_current_user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 Access is restricted to users with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role: "admin"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Statistics Endpoint (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/admin/stats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Pulls and aggregates data from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prediction_logs.csv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metrics: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total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fake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count,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real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count, and the current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model_version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real-time visibility into system usage and class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941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Maintenance Controls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441" y="2269341"/>
            <a:ext cx="797275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 administrators to manage the model's lifecycle.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Flagged Jobs Review (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/admin/flagged-jobs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the contents of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flagged_jobs.csv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(the human feedback data) as a list of dictionaries for review.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Export (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/admin/export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Serves the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flagged_jobs.csv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file directly as a downloadable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FileResponse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This facilitates moving the high-quality feedback data to an external environment for dedicated analysis.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Simulated Retraining (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/admin/retrain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Simulates a training pipeline (with a 3-second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time.sleep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Critically, it updates the global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MODEL_VERSION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a new version (e.g.,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v1.x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), demonstrating the system's ability to handle and track model updates.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3785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Testing: Ensuring Production Readiness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441" y="2854116"/>
            <a:ext cx="7805119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Validation: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Successfully verified the entire workflow, from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index.html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data submission through to API response and correct logging in the CSV files.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Case Handling: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Tested unauthorized access to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/admin/stats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(correctly returns 403 Forbidden).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Tested empty/short text inputs (correctly returns 400 Bad Request).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Ready: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Dependencies: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dependencies are documented in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requirements.txt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use of standard libraries and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simplifies containerization (e.g.,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Dockerization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for easy cloud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7048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Milestone 3 Conclusion and Future Vision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441" y="2130841"/>
            <a:ext cx="782035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Production-grade, secure, and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built.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Frontend: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Intuitive UI integrated with dynamic result display and feedback.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Operational: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Full logging and feedback loop established for continuous data collection.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Scope (Beyond M3):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Deployment: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Migrate the application to a cloud service (e.g., AWS EC2/Lambda or Azure App Service).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Migration: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Replace CSV files 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.logs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.flagged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with a robust database (e.g.,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PostgreSQL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MongoDB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for better scalability and query performance.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Retraining: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a CI/CD pipeline that automatically pulls feedback data, retrains the model, and updates the production model file 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pkl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with zero downtime.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0578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134</TotalTime>
  <Words>1647</Words>
  <Application>Microsoft Office PowerPoint</Application>
  <PresentationFormat>On-screen Show (4:3)</PresentationFormat>
  <Paragraphs>252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 Unicode MS</vt:lpstr>
      <vt:lpstr>Arial</vt:lpstr>
      <vt:lpstr>Calibri</vt:lpstr>
      <vt:lpstr>Century Gothic</vt:lpstr>
      <vt:lpstr>Google Sans Text</vt:lpstr>
      <vt:lpstr>Wingdings 3</vt:lpstr>
      <vt:lpstr>Ion Boardroom</vt:lpstr>
      <vt:lpstr>Milestone 1: Data Preprocessing &amp; EDA Milestone 2: Evaluation Milestone 3:Production Integration and Web Application</vt:lpstr>
      <vt:lpstr>Project Overview</vt:lpstr>
      <vt:lpstr>Data Cleaning Steps</vt:lpstr>
      <vt:lpstr>Text Normalization</vt:lpstr>
      <vt:lpstr>Exploratory Data Analysis (Statistical)</vt:lpstr>
      <vt:lpstr>EDA Visual Highlights</vt:lpstr>
      <vt:lpstr>Class Imbalance</vt:lpstr>
      <vt:lpstr>TF-IDF Feature Extraction (Detailed)</vt:lpstr>
      <vt:lpstr>Alternative Embeddings (Optional)</vt:lpstr>
      <vt:lpstr>Milestone 1 Outputs</vt:lpstr>
      <vt:lpstr>Conclusion</vt:lpstr>
      <vt:lpstr>Milestone 2 Overview</vt:lpstr>
      <vt:lpstr>Baseline Models Implemented</vt:lpstr>
      <vt:lpstr>Baseline Models Implemented</vt:lpstr>
      <vt:lpstr>Evaluation of Baseline Models</vt:lpstr>
      <vt:lpstr>Deep Learning Model: Architecture</vt:lpstr>
      <vt:lpstr>Deep Learning: Training Process</vt:lpstr>
      <vt:lpstr>Deep Learning: Evaluation</vt:lpstr>
      <vt:lpstr>Model Comparison</vt:lpstr>
      <vt:lpstr>Model Saving &amp; Versioning</vt:lpstr>
      <vt:lpstr>Cross-Validation</vt:lpstr>
      <vt:lpstr>Milestone 2 Summary</vt:lpstr>
      <vt:lpstr>Milestone 3: Operationalizing the Model – Web Application Integration</vt:lpstr>
      <vt:lpstr>Production Architecture: The End-to-End System Flow</vt:lpstr>
      <vt:lpstr>Robust Backend: Leveraging FastAPI for High Performance</vt:lpstr>
      <vt:lpstr>Model Inference Endpoint and Data Logging</vt:lpstr>
      <vt:lpstr>Intuitive Frontend: Design and Dynamic Results</vt:lpstr>
      <vt:lpstr>The Feedback Mechanism and Data Collection</vt:lpstr>
      <vt:lpstr>Secure System Monitoring and Analytics</vt:lpstr>
      <vt:lpstr>Model Maintenance Controls</vt:lpstr>
      <vt:lpstr>Integration Testing: Ensuring Production Readiness</vt:lpstr>
      <vt:lpstr>Milestone 3 Conclusion and Future Vision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1: Data Preprocessing &amp; EDA</dc:title>
  <dc:subject/>
  <dc:creator>Palkin</dc:creator>
  <cp:keywords/>
  <dc:description>generated using python-pptx</dc:description>
  <cp:lastModifiedBy>Palkin</cp:lastModifiedBy>
  <cp:revision>10</cp:revision>
  <dcterms:created xsi:type="dcterms:W3CDTF">2013-01-27T09:14:16Z</dcterms:created>
  <dcterms:modified xsi:type="dcterms:W3CDTF">2025-12-05T12:25:22Z</dcterms:modified>
  <cp:category/>
</cp:coreProperties>
</file>